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6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6" d="100"/>
          <a:sy n="56" d="100"/>
        </p:scale>
        <p:origin x="61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765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Begrüßung, eigenen Namen nennen, Kontext: Fortgeschrittene Programmierung, 15 Minuten inkl. 6 Minuten Live-Demo und Q&amp;A. Kurz den Rahmen setzen: heute stelle ich OP-Kompass so vor, als würde ich es einer Klinikleitung tatsächlich verkaufen wollen.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Konkrete Szene erzählen, langsam vorlesen: 08:47 Uhr, Saal 1. Der Operateur meldet 30 Minuten Verzug bei der Knie-TEP. Das triggert eine Kettenreaktion. Betonen: das ist keine Erfindung — das ist exakt das Szenario, das auch mein Testskript main.py durchspielt (Phase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 dem Problem den Wert ableiten. Vier Aussagen, jede korrespondiert direkt mit einem Code-Ausschnitt, den ich gleich zeige. Zeit lassen, das ist die 'Verkaufs'-Folie.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Architektur erklären: OPManager als zentrale Steuereinheit, Controller-Pattern. Ressource als Basisklasse, Instrument und Einmalartikel als spezialisierte Ableitungen. Kurz begründen warum: gemeinsame Prüfmethoden, kein doppelter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Brücke zu den Code-Folien: zwei Prinzipien erklären, die das System robust machen. Vererbung reduziert Duplikation. Transaktionale Sicherheit heißt: kein Teilzustand — entweder die ganze Änderung geht durch oder gar keine.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Dritten Code-Ausschnitt erklären: Verbrauch wird direkt bei der Buchung durchgezogen (manager.py), die Warnung erscheint dann in der Oberfläche (app.py), sobald Bestand &lt;= Meldebestand. Rückbezug auf Folie 3, Punkt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Ersten Code-Ausschnitt erklären: plane_operation() prüft jede benötigte Ressource. Ist eine belegt, werden alle bereits reservierten Ressourcen dieser Buchung wieder freigegeben — kein Teil-Zustand. Rückbezug auf Folie 3, Punkt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Übergabe zur Live-Demo. Jetzt die Streamlit-App öffnen (streamlit run app.py). Reihenfolge: 1) Saalübersicht zeigen, 2) neue OP buchen und bewusst einen Ressourcenkonflikt provozieren, 3) Lagerwarnung zeigen, 4) eine laufende OP verschieben und live die Kettenreaktion zeigen. Ca. 6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Ausblick: was als nächstes käme, wenn aus dem Uni-Projekt ein echtes Produkt würde.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Kernbotschaft wiederholen — weniger Zettelwirtschaft, mehr Sicherheit im OP-Betrieb. Dann offen für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284095"/>
            <a:ext cx="716280" cy="716280"/>
          </a:xfrm>
          <a:prstGeom prst="ellipse">
            <a:avLst/>
          </a:prstGeom>
          <a:ln w="53340">
            <a:solidFill>
              <a:srgbClr val="0E7C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 rot="1680001">
            <a:off x="1291590" y="2444115"/>
            <a:ext cx="38100" cy="247650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935480" y="2421255"/>
            <a:ext cx="287070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kern="0" spc="6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OP-KOMPASS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3381375"/>
            <a:ext cx="14716125" cy="2198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2"/>
              </a:lnSpc>
              <a:buNone/>
            </a:pPr>
            <a:r>
              <a:rPr lang="en-US" sz="81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Digitales OP-Planungs- &amp; Ressourcenmanagement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952500" y="5884545"/>
            <a:ext cx="1177290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</a:t>
            </a:r>
            <a:r>
              <a:rPr lang="en-US" sz="300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Tageskliniken</a:t>
            </a:r>
            <a:r>
              <a:rPr lang="en-US" sz="300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r>
              <a:rPr lang="en-US" sz="300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</a:t>
            </a:r>
            <a:r>
              <a:rPr lang="en-US" sz="300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</a:t>
            </a:r>
            <a:r>
              <a:rPr lang="en-US" sz="300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die </a:t>
            </a:r>
            <a:r>
              <a:rPr lang="en-US" sz="300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</a:t>
            </a:r>
            <a:r>
              <a:rPr lang="en-US" sz="300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Säle</a:t>
            </a:r>
            <a:r>
              <a:rPr lang="en-US" sz="300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r>
              <a:rPr lang="en-US" sz="300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</a:t>
            </a:r>
            <a:r>
              <a:rPr lang="en-US" sz="300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Whiteboard und Excel </a:t>
            </a:r>
            <a:r>
              <a:rPr lang="en-US" sz="300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steuern</a:t>
            </a:r>
            <a:r>
              <a:rPr lang="en-US" sz="300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7847648"/>
            <a:ext cx="533400" cy="28575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676400" y="7720965"/>
            <a:ext cx="70855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Katja Fichtner-Pflaum · Fortgeschrittene Programmierung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KLINIKALLTAG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064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291"/>
              </a:lnSpc>
              <a:buNone/>
            </a:pPr>
            <a:r>
              <a:rPr lang="en-US" sz="45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08:47 Uhr, Saal 1: die Knie-TEP dauert 30 Minuten länger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386965"/>
            <a:ext cx="1580388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Operateur meldet eine Komplikation bei Patient Müller. Die OP-Pflege muss jetzt in Sekunden wissen: Kollidiert das mit der nächsten Buchung? Sind Anästhesist und Instrumente zur neuen Zeit noch frei? Bisher steht die Antwort auf einem Whiteboard.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4091940"/>
            <a:ext cx="16383000" cy="5528310"/>
          </a:xfrm>
          <a:prstGeom prst="roundRect">
            <a:avLst>
              <a:gd name="adj" fmla="val 689"/>
            </a:avLst>
          </a:prstGeom>
          <a:solidFill>
            <a:srgbClr val="FFFFFF"/>
          </a:solidFill>
          <a:ln w="762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531620" y="4632960"/>
            <a:ext cx="4424517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Saal 1 · Endoprothetik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801963" y="4724400"/>
            <a:ext cx="32498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 Uhr — 16:00 Uhr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31620" y="5789890"/>
            <a:ext cx="199072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3646170" y="5553670"/>
            <a:ext cx="13110210" cy="800100"/>
          </a:xfrm>
          <a:prstGeom prst="roundRect">
            <a:avLst>
              <a:gd name="adj" fmla="val 4762"/>
            </a:avLst>
          </a:prstGeom>
          <a:solidFill>
            <a:srgbClr val="F1F5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46170" y="5553670"/>
            <a:ext cx="3277553" cy="800100"/>
          </a:xfrm>
          <a:prstGeom prst="roundRect">
            <a:avLst>
              <a:gd name="adj" fmla="val 4762"/>
            </a:avLst>
          </a:prstGeom>
          <a:solidFill>
            <a:srgbClr val="CFE9E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646170" y="5553670"/>
            <a:ext cx="38100" cy="80010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217551" y="5824181"/>
            <a:ext cx="239018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Müller · 08:00–10:00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48074" y="5553670"/>
            <a:ext cx="2884170" cy="800100"/>
          </a:xfrm>
          <a:prstGeom prst="roundRect">
            <a:avLst>
              <a:gd name="adj" fmla="val 4762"/>
            </a:avLst>
          </a:prstGeom>
          <a:solidFill>
            <a:srgbClr val="E4E9E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7448074" y="5553670"/>
            <a:ext cx="38100" cy="800100"/>
          </a:xfrm>
          <a:prstGeom prst="rect">
            <a:avLst/>
          </a:prstGeom>
          <a:solidFill>
            <a:srgbClr val="4760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708464" y="5824181"/>
            <a:ext cx="264164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Schmidt · 10:20–12:00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31620" y="6905030"/>
            <a:ext cx="18859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(+30 Min.)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3646170" y="6832640"/>
            <a:ext cx="13110210" cy="800100"/>
          </a:xfrm>
          <a:prstGeom prst="roundRect">
            <a:avLst>
              <a:gd name="adj" fmla="val 4762"/>
            </a:avLst>
          </a:prstGeom>
          <a:solidFill>
            <a:srgbClr val="F1F5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3646170" y="6832640"/>
            <a:ext cx="4096941" cy="800100"/>
          </a:xfrm>
          <a:prstGeom prst="roundRect">
            <a:avLst>
              <a:gd name="adj" fmla="val 4762"/>
            </a:avLst>
          </a:prstGeom>
          <a:solidFill>
            <a:srgbClr val="0E7C6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608195" y="7103150"/>
            <a:ext cx="239018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Müller · 08:00–10:30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87108" y="6832640"/>
            <a:ext cx="2621994" cy="800100"/>
          </a:xfrm>
          <a:prstGeom prst="roundRect">
            <a:avLst>
              <a:gd name="adj" fmla="val 4762"/>
            </a:avLst>
          </a:prstGeom>
          <a:solidFill>
            <a:srgbClr val="1024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397359" y="7103150"/>
            <a:ext cx="264164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Schmidt · 10:50–12:30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31620" y="8111490"/>
            <a:ext cx="15224760" cy="9525"/>
          </a:xfrm>
          <a:prstGeom prst="rect">
            <a:avLst/>
          </a:prstGeom>
          <a:solidFill>
            <a:srgbClr val="D7E1E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1531620" y="8713470"/>
            <a:ext cx="76200" cy="76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798320" y="8576361"/>
            <a:ext cx="15406802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OP-Kompass verschiebt Schmidts Termin automatisch mit — inklusive neuer Prüfung von </a:t>
            </a:r>
            <a:r>
              <a:rPr lang="en-US" sz="225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GESCHÄFTLICHE NUTZEN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0640"/>
            <a:ext cx="16874490" cy="1348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diese 30 Minuten heute kosten — und was OP-Kompass automatisiert</a:t>
            </a:r>
            <a:endParaRPr lang="en-US" sz="4500" dirty="0"/>
          </a:p>
        </p:txBody>
      </p:sp>
      <p:sp>
        <p:nvSpPr>
          <p:cNvPr id="71" name="Shape 2">
            <a:extLst>
              <a:ext uri="{FF2B5EF4-FFF2-40B4-BE49-F238E27FC236}">
                <a16:creationId xmlns:a16="http://schemas.microsoft.com/office/drawing/2014/main" id="{6DE03278-B46E-5C00-3F64-2900BB5B0037}"/>
              </a:ext>
            </a:extLst>
          </p:cNvPr>
          <p:cNvSpPr/>
          <p:nvPr/>
        </p:nvSpPr>
        <p:spPr>
          <a:xfrm>
            <a:off x="1238250" y="3253740"/>
            <a:ext cx="7734300" cy="29165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1524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9EF5EE52-705B-AEB1-7E0A-BCC5A04A9E62}"/>
              </a:ext>
            </a:extLst>
          </p:cNvPr>
          <p:cNvSpPr/>
          <p:nvPr/>
        </p:nvSpPr>
        <p:spPr>
          <a:xfrm>
            <a:off x="1748790" y="3850958"/>
            <a:ext cx="73845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CC1639A2-8291-D35E-6139-94A10862B6EF}"/>
              </a:ext>
            </a:extLst>
          </p:cNvPr>
          <p:cNvSpPr/>
          <p:nvPr/>
        </p:nvSpPr>
        <p:spPr>
          <a:xfrm>
            <a:off x="1748790" y="4311968"/>
            <a:ext cx="738454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Restzeit je Saal in Echtzeit</a:t>
            </a:r>
            <a:endParaRPr lang="en-US" sz="2550" dirty="0"/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7BEFF6B3-9661-896A-CF35-6C2B2CA55385}"/>
              </a:ext>
            </a:extLst>
          </p:cNvPr>
          <p:cNvSpPr/>
          <p:nvPr/>
        </p:nvSpPr>
        <p:spPr>
          <a:xfrm>
            <a:off x="1748790" y="4830128"/>
            <a:ext cx="69146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57"/>
              </a:lnSpc>
              <a:buNone/>
            </a:pP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Nachzählen auf dem Whiteboard — die freie Zeit steht sofort fest.</a:t>
            </a:r>
            <a:endParaRPr lang="en-US" sz="1950" dirty="0"/>
          </a:p>
        </p:txBody>
      </p:sp>
      <p:sp>
        <p:nvSpPr>
          <p:cNvPr id="79" name="Shape 6">
            <a:extLst>
              <a:ext uri="{FF2B5EF4-FFF2-40B4-BE49-F238E27FC236}">
                <a16:creationId xmlns:a16="http://schemas.microsoft.com/office/drawing/2014/main" id="{BF78B7C6-C4E6-3E1F-21A2-B6BDC4223362}"/>
              </a:ext>
            </a:extLst>
          </p:cNvPr>
          <p:cNvSpPr/>
          <p:nvPr/>
        </p:nvSpPr>
        <p:spPr>
          <a:xfrm>
            <a:off x="9315450" y="3253740"/>
            <a:ext cx="7734300" cy="29165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1524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Text 7">
            <a:extLst>
              <a:ext uri="{FF2B5EF4-FFF2-40B4-BE49-F238E27FC236}">
                <a16:creationId xmlns:a16="http://schemas.microsoft.com/office/drawing/2014/main" id="{777E1549-6CC4-99E1-E155-6F29E70CCB55}"/>
              </a:ext>
            </a:extLst>
          </p:cNvPr>
          <p:cNvSpPr/>
          <p:nvPr/>
        </p:nvSpPr>
        <p:spPr>
          <a:xfrm>
            <a:off x="9825990" y="3850958"/>
            <a:ext cx="73845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738423C9-30C8-6071-A67D-C7F167B3BE18}"/>
              </a:ext>
            </a:extLst>
          </p:cNvPr>
          <p:cNvSpPr/>
          <p:nvPr/>
        </p:nvSpPr>
        <p:spPr>
          <a:xfrm>
            <a:off x="9825990" y="4311968"/>
            <a:ext cx="738454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Kollisionsprüfung bei jeder Buchung</a:t>
            </a:r>
            <a:endParaRPr lang="en-US" sz="2550" dirty="0"/>
          </a:p>
        </p:txBody>
      </p:sp>
      <p:sp>
        <p:nvSpPr>
          <p:cNvPr id="85" name="Text 9">
            <a:extLst>
              <a:ext uri="{FF2B5EF4-FFF2-40B4-BE49-F238E27FC236}">
                <a16:creationId xmlns:a16="http://schemas.microsoft.com/office/drawing/2014/main" id="{170372F8-65A3-9B15-C84F-B2301FC95723}"/>
              </a:ext>
            </a:extLst>
          </p:cNvPr>
          <p:cNvSpPr/>
          <p:nvPr/>
        </p:nvSpPr>
        <p:spPr>
          <a:xfrm>
            <a:off x="9825990" y="4830128"/>
            <a:ext cx="69146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57"/>
              </a:lnSpc>
              <a:buNone/>
            </a:pP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Personal, Geräte und Material werden vor der Zusage geprüft — nicht danach.</a:t>
            </a:r>
            <a:endParaRPr lang="en-US" sz="1950" dirty="0"/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C8FFD806-12D9-1D41-C702-72E4D12CC8DB}"/>
              </a:ext>
            </a:extLst>
          </p:cNvPr>
          <p:cNvSpPr/>
          <p:nvPr/>
        </p:nvSpPr>
        <p:spPr>
          <a:xfrm>
            <a:off x="1238250" y="6513195"/>
            <a:ext cx="7734300" cy="29165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1524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" name="Text 11">
            <a:extLst>
              <a:ext uri="{FF2B5EF4-FFF2-40B4-BE49-F238E27FC236}">
                <a16:creationId xmlns:a16="http://schemas.microsoft.com/office/drawing/2014/main" id="{2EAEEFF8-E4D1-A347-5C1E-F16CDF1E2AE8}"/>
              </a:ext>
            </a:extLst>
          </p:cNvPr>
          <p:cNvSpPr/>
          <p:nvPr/>
        </p:nvSpPr>
        <p:spPr>
          <a:xfrm>
            <a:off x="1748790" y="7110413"/>
            <a:ext cx="73845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7C9085F2-416C-3FEC-3BAC-51E0E200D769}"/>
              </a:ext>
            </a:extLst>
          </p:cNvPr>
          <p:cNvSpPr/>
          <p:nvPr/>
        </p:nvSpPr>
        <p:spPr>
          <a:xfrm>
            <a:off x="1748790" y="7571423"/>
            <a:ext cx="738454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Kettenverschiebung ohne Zettelwirtschaft</a:t>
            </a:r>
            <a:endParaRPr lang="en-US" sz="2550" dirty="0"/>
          </a:p>
        </p:txBody>
      </p:sp>
      <p:sp>
        <p:nvSpPr>
          <p:cNvPr id="93" name="Text 13">
            <a:extLst>
              <a:ext uri="{FF2B5EF4-FFF2-40B4-BE49-F238E27FC236}">
                <a16:creationId xmlns:a16="http://schemas.microsoft.com/office/drawing/2014/main" id="{C2E030FA-8009-BE69-C1BE-6C825521CFAE}"/>
              </a:ext>
            </a:extLst>
          </p:cNvPr>
          <p:cNvSpPr/>
          <p:nvPr/>
        </p:nvSpPr>
        <p:spPr>
          <a:xfrm>
            <a:off x="1748790" y="8089582"/>
            <a:ext cx="69146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57"/>
              </a:lnSpc>
              <a:buNone/>
            </a:pP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Komplikation schiebt automatisch alle Folgetermine im Saal mit.</a:t>
            </a:r>
            <a:endParaRPr lang="en-US" sz="1950" dirty="0"/>
          </a:p>
        </p:txBody>
      </p:sp>
      <p:sp>
        <p:nvSpPr>
          <p:cNvPr id="95" name="Shape 14">
            <a:extLst>
              <a:ext uri="{FF2B5EF4-FFF2-40B4-BE49-F238E27FC236}">
                <a16:creationId xmlns:a16="http://schemas.microsoft.com/office/drawing/2014/main" id="{8C43DBED-DC2F-629E-70B8-211D1957BE14}"/>
              </a:ext>
            </a:extLst>
          </p:cNvPr>
          <p:cNvSpPr/>
          <p:nvPr/>
        </p:nvSpPr>
        <p:spPr>
          <a:xfrm>
            <a:off x="9315450" y="6513195"/>
            <a:ext cx="7734300" cy="29165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1524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7" name="Text 15">
            <a:extLst>
              <a:ext uri="{FF2B5EF4-FFF2-40B4-BE49-F238E27FC236}">
                <a16:creationId xmlns:a16="http://schemas.microsoft.com/office/drawing/2014/main" id="{C59C5FBB-8F9F-300E-4AC1-501FE5E7035A}"/>
              </a:ext>
            </a:extLst>
          </p:cNvPr>
          <p:cNvSpPr/>
          <p:nvPr/>
        </p:nvSpPr>
        <p:spPr>
          <a:xfrm>
            <a:off x="9825990" y="7110413"/>
            <a:ext cx="73845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99" name="Text 16">
            <a:extLst>
              <a:ext uri="{FF2B5EF4-FFF2-40B4-BE49-F238E27FC236}">
                <a16:creationId xmlns:a16="http://schemas.microsoft.com/office/drawing/2014/main" id="{BDA519B1-A6C1-6B42-6B1F-72984737FB1E}"/>
              </a:ext>
            </a:extLst>
          </p:cNvPr>
          <p:cNvSpPr/>
          <p:nvPr/>
        </p:nvSpPr>
        <p:spPr>
          <a:xfrm>
            <a:off x="9825990" y="7571423"/>
            <a:ext cx="738454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Warnung vor dem Engpass</a:t>
            </a:r>
            <a:endParaRPr lang="en-US" sz="2550" dirty="0"/>
          </a:p>
        </p:txBody>
      </p:sp>
      <p:sp>
        <p:nvSpPr>
          <p:cNvPr id="101" name="Text 17">
            <a:extLst>
              <a:ext uri="{FF2B5EF4-FFF2-40B4-BE49-F238E27FC236}">
                <a16:creationId xmlns:a16="http://schemas.microsoft.com/office/drawing/2014/main" id="{45B5735F-E7E8-4096-154B-8F30D9399D90}"/>
              </a:ext>
            </a:extLst>
          </p:cNvPr>
          <p:cNvSpPr/>
          <p:nvPr/>
        </p:nvSpPr>
        <p:spPr>
          <a:xfrm>
            <a:off x="9825990" y="8089582"/>
            <a:ext cx="69146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57"/>
              </a:lnSpc>
              <a:buNone/>
            </a:pP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Sinkt ein Artikel unter den Meldebestand, meldet sich das System selbst.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SYSTEMARCHITEKTUR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0640"/>
            <a:ext cx="1802130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Steuereinheit, klare Zuständigkeiten</a:t>
            </a:r>
            <a:endParaRPr lang="en-US" sz="4500" dirty="0"/>
          </a:p>
        </p:txBody>
      </p:sp>
      <p:sp>
        <p:nvSpPr>
          <p:cNvPr id="87" name="Shape 2">
            <a:extLst>
              <a:ext uri="{FF2B5EF4-FFF2-40B4-BE49-F238E27FC236}">
                <a16:creationId xmlns:a16="http://schemas.microsoft.com/office/drawing/2014/main" id="{726FD30C-6994-F7AD-EBC3-F96A3C309F31}"/>
              </a:ext>
            </a:extLst>
          </p:cNvPr>
          <p:cNvSpPr/>
          <p:nvPr/>
        </p:nvSpPr>
        <p:spPr>
          <a:xfrm>
            <a:off x="1238250" y="2708910"/>
            <a:ext cx="4724400" cy="6720840"/>
          </a:xfrm>
          <a:prstGeom prst="roundRect">
            <a:avLst>
              <a:gd name="adj" fmla="val 4032"/>
            </a:avLst>
          </a:prstGeom>
          <a:solidFill>
            <a:srgbClr val="1024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03AA921E-3F03-2AEF-29BF-AED7F32A98B8}"/>
              </a:ext>
            </a:extLst>
          </p:cNvPr>
          <p:cNvSpPr/>
          <p:nvPr/>
        </p:nvSpPr>
        <p:spPr>
          <a:xfrm>
            <a:off x="1695450" y="5022771"/>
            <a:ext cx="41910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225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5DF5D82B-DC87-34F0-6A2C-BB69E8E1A89C}"/>
              </a:ext>
            </a:extLst>
          </p:cNvPr>
          <p:cNvSpPr/>
          <p:nvPr/>
        </p:nvSpPr>
        <p:spPr>
          <a:xfrm>
            <a:off x="1695450" y="5358051"/>
            <a:ext cx="4191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OPManager</a:t>
            </a:r>
            <a:endParaRPr lang="en-US" sz="2850" dirty="0"/>
          </a:p>
        </p:txBody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268E027E-DC25-C5C6-31F2-D14143D642DC}"/>
              </a:ext>
            </a:extLst>
          </p:cNvPr>
          <p:cNvSpPr/>
          <p:nvPr/>
        </p:nvSpPr>
        <p:spPr>
          <a:xfrm>
            <a:off x="1695450" y="6005751"/>
            <a:ext cx="3924300" cy="1148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61875"/>
              </a:lnSpc>
              <a:buNone/>
            </a:pPr>
            <a:r>
              <a:rPr lang="en-US" sz="1575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plane_operation() verschiebe_op() zeige_verfuegbare_ressourcen()</a:t>
            </a:r>
            <a:endParaRPr lang="en-US" sz="1575" dirty="0"/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2475C27D-8161-081B-FDB7-274493BC4670}"/>
              </a:ext>
            </a:extLst>
          </p:cNvPr>
          <p:cNvSpPr/>
          <p:nvPr/>
        </p:nvSpPr>
        <p:spPr>
          <a:xfrm>
            <a:off x="6343650" y="5806440"/>
            <a:ext cx="5334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7" name="Shape 7">
            <a:extLst>
              <a:ext uri="{FF2B5EF4-FFF2-40B4-BE49-F238E27FC236}">
                <a16:creationId xmlns:a16="http://schemas.microsoft.com/office/drawing/2014/main" id="{C619FD7D-BC36-9383-6E0B-BB0FD3DBDCE7}"/>
              </a:ext>
            </a:extLst>
          </p:cNvPr>
          <p:cNvSpPr/>
          <p:nvPr/>
        </p:nvSpPr>
        <p:spPr>
          <a:xfrm>
            <a:off x="7181850" y="4190047"/>
            <a:ext cx="4810125" cy="1687830"/>
          </a:xfrm>
          <a:prstGeom prst="roundRect">
            <a:avLst>
              <a:gd name="adj" fmla="val 10158"/>
            </a:avLst>
          </a:prstGeom>
          <a:solidFill>
            <a:srgbClr val="FFFFFF"/>
          </a:solidFill>
          <a:ln w="1524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D8554CC6-CCC0-92BF-E87F-0BEA6F7B6B5C}"/>
              </a:ext>
            </a:extLst>
          </p:cNvPr>
          <p:cNvSpPr/>
          <p:nvPr/>
        </p:nvSpPr>
        <p:spPr>
          <a:xfrm>
            <a:off x="7539990" y="4510088"/>
            <a:ext cx="45032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OPSaal &amp; OP</a:t>
            </a:r>
            <a:endParaRPr lang="en-US" sz="2100" dirty="0"/>
          </a:p>
        </p:txBody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2CB688EA-7704-C1AC-CE41-CC6CE0B7F8DA}"/>
              </a:ext>
            </a:extLst>
          </p:cNvPr>
          <p:cNvSpPr/>
          <p:nvPr/>
        </p:nvSpPr>
        <p:spPr>
          <a:xfrm>
            <a:off x="7539990" y="4929188"/>
            <a:ext cx="421666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906"/>
              </a:lnSpc>
              <a:buNone/>
            </a:pPr>
            <a:r>
              <a:rPr lang="en-US" sz="16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Zeitstrahl je Saal, Restzeit-Berechnung, Reinigungszeit nach jeder OP</a:t>
            </a:r>
            <a:endParaRPr lang="en-US" sz="1650" dirty="0"/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D2234FD3-6B70-A935-EC2F-F5845E150AD9}"/>
              </a:ext>
            </a:extLst>
          </p:cNvPr>
          <p:cNvSpPr/>
          <p:nvPr/>
        </p:nvSpPr>
        <p:spPr>
          <a:xfrm>
            <a:off x="12239625" y="4190047"/>
            <a:ext cx="4810125" cy="1687830"/>
          </a:xfrm>
          <a:prstGeom prst="roundRect">
            <a:avLst>
              <a:gd name="adj" fmla="val 10158"/>
            </a:avLst>
          </a:prstGeom>
          <a:solidFill>
            <a:srgbClr val="FFFFFF"/>
          </a:solidFill>
          <a:ln w="1524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31FDB789-7A98-3337-02AB-FEF15390846D}"/>
              </a:ext>
            </a:extLst>
          </p:cNvPr>
          <p:cNvSpPr/>
          <p:nvPr/>
        </p:nvSpPr>
        <p:spPr>
          <a:xfrm>
            <a:off x="12597765" y="4510088"/>
            <a:ext cx="45032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OPTyp</a:t>
            </a:r>
            <a:endParaRPr lang="en-US" sz="2100" dirty="0"/>
          </a:p>
        </p:txBody>
      </p:sp>
      <p:sp>
        <p:nvSpPr>
          <p:cNvPr id="107" name="Text 12">
            <a:extLst>
              <a:ext uri="{FF2B5EF4-FFF2-40B4-BE49-F238E27FC236}">
                <a16:creationId xmlns:a16="http://schemas.microsoft.com/office/drawing/2014/main" id="{788AC594-FDD3-7F45-39AD-0F14BFA1531E}"/>
              </a:ext>
            </a:extLst>
          </p:cNvPr>
          <p:cNvSpPr/>
          <p:nvPr/>
        </p:nvSpPr>
        <p:spPr>
          <a:xfrm>
            <a:off x="12597765" y="4929188"/>
            <a:ext cx="421666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906"/>
              </a:lnSpc>
              <a:buNone/>
            </a:pPr>
            <a:r>
              <a:rPr lang="en-US" sz="16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Rezept je Eingriff: Standarddauer + benötigte Ressourcen als Dictionary</a:t>
            </a:r>
            <a:endParaRPr lang="en-US" sz="1650" dirty="0"/>
          </a:p>
        </p:txBody>
      </p:sp>
      <p:sp>
        <p:nvSpPr>
          <p:cNvPr id="109" name="Shape 13">
            <a:extLst>
              <a:ext uri="{FF2B5EF4-FFF2-40B4-BE49-F238E27FC236}">
                <a16:creationId xmlns:a16="http://schemas.microsoft.com/office/drawing/2014/main" id="{89CE7092-218D-DB50-7A60-51829E84D4B2}"/>
              </a:ext>
            </a:extLst>
          </p:cNvPr>
          <p:cNvSpPr/>
          <p:nvPr/>
        </p:nvSpPr>
        <p:spPr>
          <a:xfrm>
            <a:off x="7181850" y="6125528"/>
            <a:ext cx="9867900" cy="1823085"/>
          </a:xfrm>
          <a:prstGeom prst="roundRect">
            <a:avLst>
              <a:gd name="adj" fmla="val 9404"/>
            </a:avLst>
          </a:prstGeom>
          <a:solidFill>
            <a:srgbClr val="FFFFFF"/>
          </a:solidFill>
          <a:ln w="1524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" name="Text 14">
            <a:extLst>
              <a:ext uri="{FF2B5EF4-FFF2-40B4-BE49-F238E27FC236}">
                <a16:creationId xmlns:a16="http://schemas.microsoft.com/office/drawing/2014/main" id="{D9B49D6E-2B58-ECEA-35B5-741601CF6896}"/>
              </a:ext>
            </a:extLst>
          </p:cNvPr>
          <p:cNvSpPr/>
          <p:nvPr/>
        </p:nvSpPr>
        <p:spPr>
          <a:xfrm>
            <a:off x="7539990" y="6445568"/>
            <a:ext cx="100667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</a:t>
            </a:r>
            <a:endParaRPr lang="en-US" sz="2100" dirty="0"/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A54FF8EF-6E2A-8CFB-93EE-9293C711B29A}"/>
              </a:ext>
            </a:extLst>
          </p:cNvPr>
          <p:cNvSpPr/>
          <p:nvPr/>
        </p:nvSpPr>
        <p:spPr>
          <a:xfrm>
            <a:off x="7539990" y="6864668"/>
            <a:ext cx="100667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906"/>
              </a:lnSpc>
              <a:buNone/>
            </a:pPr>
            <a:r>
              <a:rPr lang="en-US" sz="16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Basisklasse: name, ist_verfuegbar(), blockieren(), freigeben()</a:t>
            </a:r>
            <a:endParaRPr lang="en-US" sz="1650" dirty="0"/>
          </a:p>
        </p:txBody>
      </p:sp>
      <p:sp>
        <p:nvSpPr>
          <p:cNvPr id="115" name="Text 16">
            <a:extLst>
              <a:ext uri="{FF2B5EF4-FFF2-40B4-BE49-F238E27FC236}">
                <a16:creationId xmlns:a16="http://schemas.microsoft.com/office/drawing/2014/main" id="{0C71007F-34D4-4FB1-6C00-35761A3CB052}"/>
              </a:ext>
            </a:extLst>
          </p:cNvPr>
          <p:cNvSpPr/>
          <p:nvPr/>
        </p:nvSpPr>
        <p:spPr>
          <a:xfrm>
            <a:off x="7539990" y="7369493"/>
            <a:ext cx="24534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Instrument </a:t>
            </a:r>
            <a:r>
              <a:rPr lang="en-US" sz="16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(Sterilgut)</a:t>
            </a:r>
            <a:endParaRPr lang="en-US" sz="1650" dirty="0"/>
          </a:p>
        </p:txBody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ACE78B15-F1B5-B6B0-919B-26C46036B0CE}"/>
              </a:ext>
            </a:extLst>
          </p:cNvPr>
          <p:cNvSpPr/>
          <p:nvPr/>
        </p:nvSpPr>
        <p:spPr>
          <a:xfrm>
            <a:off x="10018039" y="7369493"/>
            <a:ext cx="40047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Einmalartikel </a:t>
            </a:r>
            <a:r>
              <a:rPr lang="en-US" sz="16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(Lager, Meldebestand)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KLASSENDESIGN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0640"/>
            <a:ext cx="1802130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Prinzipien, die das System robust machen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85060"/>
            <a:ext cx="8001000" cy="7235190"/>
          </a:xfrm>
          <a:prstGeom prst="roundRect">
            <a:avLst>
              <a:gd name="adj" fmla="val 527"/>
            </a:avLst>
          </a:prstGeom>
          <a:solidFill>
            <a:srgbClr val="FFFFFF"/>
          </a:solidFill>
          <a:ln w="762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493520" y="2933700"/>
            <a:ext cx="2072843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Vererbung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93520" y="3634740"/>
            <a:ext cx="7126529" cy="2252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und Einmalartikel erben von Ressource. Die Prüfung </a:t>
            </a:r>
            <a:r>
              <a:rPr lang="en-US" sz="1950" dirty="0">
                <a:solidFill>
                  <a:srgbClr val="102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ist_verfuegbar() </a:t>
            </a:r>
            <a:r>
              <a:rPr lang="en-US" sz="2250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muss nur einmal geschrieben werden — für Personal, Geräte und Siebe gleichermaßen. Neue Ressourcenarten brauchen keine Änderung an OPManager.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493520" y="8606790"/>
            <a:ext cx="2651760" cy="472440"/>
          </a:xfrm>
          <a:prstGeom prst="roundRect">
            <a:avLst>
              <a:gd name="adj" fmla="val 8065"/>
            </a:avLst>
          </a:prstGeom>
          <a:solidFill>
            <a:srgbClr val="EAF4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684020" y="8702040"/>
            <a:ext cx="24978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Code-Blick 1 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34500" y="2385060"/>
            <a:ext cx="8001000" cy="7235190"/>
          </a:xfrm>
          <a:prstGeom prst="roundRect">
            <a:avLst>
              <a:gd name="adj" fmla="val 527"/>
            </a:avLst>
          </a:prstGeom>
          <a:solidFill>
            <a:srgbClr val="FFFFFF"/>
          </a:solidFill>
          <a:ln w="762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875520" y="2933700"/>
            <a:ext cx="507779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Transaktionale Sicherheit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875520" y="3634740"/>
            <a:ext cx="7126529" cy="2252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Buchung und jede Verschiebung wird erst vollständig geprüft, dann erst übernommen. Scheitert ein Schritt, bleibt der ursprüngliche Zustand vollständig erhalten — kein Teil-Zustand im Saal, keine hängende Ressource.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875520" y="8606790"/>
            <a:ext cx="2651760" cy="472440"/>
          </a:xfrm>
          <a:prstGeom prst="roundRect">
            <a:avLst>
              <a:gd name="adj" fmla="val 8065"/>
            </a:avLst>
          </a:prstGeom>
          <a:solidFill>
            <a:srgbClr val="EAF4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0066020" y="8702040"/>
            <a:ext cx="24978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Code-Blick 2 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3">
            <a:extLst>
              <a:ext uri="{FF2B5EF4-FFF2-40B4-BE49-F238E27FC236}">
                <a16:creationId xmlns:a16="http://schemas.microsoft.com/office/drawing/2014/main" id="{212C7A89-7F2F-5287-3E1E-DABC50A31CF0}"/>
              </a:ext>
            </a:extLst>
          </p:cNvPr>
          <p:cNvSpPr/>
          <p:nvPr/>
        </p:nvSpPr>
        <p:spPr>
          <a:xfrm>
            <a:off x="9212027" y="2830830"/>
            <a:ext cx="7535636" cy="6408420"/>
          </a:xfrm>
          <a:prstGeom prst="roundRect">
            <a:avLst>
              <a:gd name="adj" fmla="val 2973"/>
            </a:avLst>
          </a:prstGeom>
          <a:solidFill>
            <a:srgbClr val="1024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" name="Text 0"/>
          <p:cNvSpPr/>
          <p:nvPr/>
        </p:nvSpPr>
        <p:spPr>
          <a:xfrm>
            <a:off x="952500" y="952500"/>
            <a:ext cx="59191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CODE-BLICK 1 / 2 · manager.py &amp; ressource.py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5890"/>
            <a:ext cx="13547174" cy="1348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Einmalartikel — Verbrauch und Meldebestand-Warnung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4105096" y="857250"/>
            <a:ext cx="3230404" cy="472440"/>
          </a:xfrm>
          <a:prstGeom prst="roundRect">
            <a:avLst>
              <a:gd name="adj" fmla="val 8065"/>
            </a:avLst>
          </a:prstGeom>
          <a:solidFill>
            <a:srgbClr val="EAF4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4295596" y="952500"/>
            <a:ext cx="2946316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95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löst</a:t>
            </a: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</a:t>
            </a: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01</a:t>
            </a:r>
            <a:endParaRPr lang="en-US" sz="195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40CFBA54-BA45-275E-F5BE-D7AEC2A36A82}"/>
              </a:ext>
            </a:extLst>
          </p:cNvPr>
          <p:cNvSpPr/>
          <p:nvPr/>
        </p:nvSpPr>
        <p:spPr>
          <a:xfrm>
            <a:off x="1238250" y="2865109"/>
            <a:ext cx="7535636" cy="6408420"/>
          </a:xfrm>
          <a:prstGeom prst="roundRect">
            <a:avLst>
              <a:gd name="adj" fmla="val 2973"/>
            </a:avLst>
          </a:prstGeom>
          <a:solidFill>
            <a:srgbClr val="1024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2" name="Text 5">
            <a:extLst>
              <a:ext uri="{FF2B5EF4-FFF2-40B4-BE49-F238E27FC236}">
                <a16:creationId xmlns:a16="http://schemas.microsoft.com/office/drawing/2014/main" id="{D03453B4-EA9D-7B5A-377E-40314891BC5F}"/>
              </a:ext>
            </a:extLst>
          </p:cNvPr>
          <p:cNvSpPr/>
          <p:nvPr/>
        </p:nvSpPr>
        <p:spPr>
          <a:xfrm>
            <a:off x="1670952" y="4725286"/>
            <a:ext cx="756894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6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manager.py · plane_operation()</a:t>
            </a:r>
            <a:endParaRPr lang="en-US" sz="1800" dirty="0"/>
          </a:p>
        </p:txBody>
      </p:sp>
      <p:sp>
        <p:nvSpPr>
          <p:cNvPr id="74" name="Text 6">
            <a:extLst>
              <a:ext uri="{FF2B5EF4-FFF2-40B4-BE49-F238E27FC236}">
                <a16:creationId xmlns:a16="http://schemas.microsoft.com/office/drawing/2014/main" id="{663A6C8A-2973-22CB-BEF9-BF9BED0044D0}"/>
              </a:ext>
            </a:extLst>
          </p:cNvPr>
          <p:cNvSpPr/>
          <p:nvPr/>
        </p:nvSpPr>
        <p:spPr>
          <a:xfrm>
            <a:off x="1670952" y="5327266"/>
            <a:ext cx="7087286" cy="578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6513"/>
              </a:lnSpc>
              <a:buNone/>
            </a:pPr>
            <a:r>
              <a:rPr lang="en-US" sz="2025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ressourcen_name in self.lager:</a:t>
            </a:r>
            <a:endParaRPr lang="en-US" sz="2025" dirty="0"/>
          </a:p>
        </p:txBody>
      </p:sp>
      <p:sp>
        <p:nvSpPr>
          <p:cNvPr id="76" name="Shape 7">
            <a:extLst>
              <a:ext uri="{FF2B5EF4-FFF2-40B4-BE49-F238E27FC236}">
                <a16:creationId xmlns:a16="http://schemas.microsoft.com/office/drawing/2014/main" id="{113239D2-4439-0759-E9A5-54CFD8708748}"/>
              </a:ext>
            </a:extLst>
          </p:cNvPr>
          <p:cNvSpPr/>
          <p:nvPr/>
        </p:nvSpPr>
        <p:spPr>
          <a:xfrm>
            <a:off x="1480452" y="5867334"/>
            <a:ext cx="7071360" cy="540068"/>
          </a:xfrm>
          <a:prstGeom prst="rect">
            <a:avLst/>
          </a:prstGeom>
          <a:solidFill>
            <a:srgbClr val="6FE3C2">
              <a:alpha val="1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8" name="Shape 8">
            <a:extLst>
              <a:ext uri="{FF2B5EF4-FFF2-40B4-BE49-F238E27FC236}">
                <a16:creationId xmlns:a16="http://schemas.microsoft.com/office/drawing/2014/main" id="{C46C2C4A-F449-18B7-2B93-50525D285AE6}"/>
              </a:ext>
            </a:extLst>
          </p:cNvPr>
          <p:cNvSpPr/>
          <p:nvPr/>
        </p:nvSpPr>
        <p:spPr>
          <a:xfrm>
            <a:off x="1480452" y="5867334"/>
            <a:ext cx="38100" cy="540068"/>
          </a:xfrm>
          <a:prstGeom prst="rect">
            <a:avLst/>
          </a:prstGeom>
          <a:solidFill>
            <a:srgbClr val="6FE3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0" name="Text 9">
            <a:extLst>
              <a:ext uri="{FF2B5EF4-FFF2-40B4-BE49-F238E27FC236}">
                <a16:creationId xmlns:a16="http://schemas.microsoft.com/office/drawing/2014/main" id="{84AF348F-926B-3E4C-B46A-7CC753FA9B39}"/>
              </a:ext>
            </a:extLst>
          </p:cNvPr>
          <p:cNvSpPr/>
          <p:nvPr/>
        </p:nvSpPr>
        <p:spPr>
          <a:xfrm>
            <a:off x="1670952" y="5867334"/>
            <a:ext cx="7093001" cy="578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6513"/>
              </a:lnSpc>
              <a:buNone/>
            </a:pPr>
            <a:r>
              <a:rPr lang="en-US" sz="2025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artikel = self.lager[ressourcen_name]</a:t>
            </a:r>
            <a:endParaRPr lang="en-US" sz="2025" dirty="0"/>
          </a:p>
        </p:txBody>
      </p:sp>
      <p:sp>
        <p:nvSpPr>
          <p:cNvPr id="82" name="Shape 10">
            <a:extLst>
              <a:ext uri="{FF2B5EF4-FFF2-40B4-BE49-F238E27FC236}">
                <a16:creationId xmlns:a16="http://schemas.microsoft.com/office/drawing/2014/main" id="{FD7E367E-7402-1E82-BF66-B21CDD5D4EF0}"/>
              </a:ext>
            </a:extLst>
          </p:cNvPr>
          <p:cNvSpPr/>
          <p:nvPr/>
        </p:nvSpPr>
        <p:spPr>
          <a:xfrm>
            <a:off x="1480452" y="6407401"/>
            <a:ext cx="7071360" cy="540068"/>
          </a:xfrm>
          <a:prstGeom prst="rect">
            <a:avLst/>
          </a:prstGeom>
          <a:solidFill>
            <a:srgbClr val="6FE3C2">
              <a:alpha val="1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4" name="Shape 11">
            <a:extLst>
              <a:ext uri="{FF2B5EF4-FFF2-40B4-BE49-F238E27FC236}">
                <a16:creationId xmlns:a16="http://schemas.microsoft.com/office/drawing/2014/main" id="{F7001F7B-B365-3807-7FA4-8FED9AD90EF2}"/>
              </a:ext>
            </a:extLst>
          </p:cNvPr>
          <p:cNvSpPr/>
          <p:nvPr/>
        </p:nvSpPr>
        <p:spPr>
          <a:xfrm>
            <a:off x="1480452" y="6407401"/>
            <a:ext cx="38100" cy="540068"/>
          </a:xfrm>
          <a:prstGeom prst="rect">
            <a:avLst/>
          </a:prstGeom>
          <a:solidFill>
            <a:srgbClr val="6FE3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C461D368-AE73-352E-D91E-5E84D1C0623F}"/>
              </a:ext>
            </a:extLst>
          </p:cNvPr>
          <p:cNvSpPr/>
          <p:nvPr/>
        </p:nvSpPr>
        <p:spPr>
          <a:xfrm>
            <a:off x="1670952" y="6407401"/>
            <a:ext cx="7093001" cy="578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6513"/>
              </a:lnSpc>
              <a:buNone/>
            </a:pPr>
            <a:r>
              <a:rPr lang="en-US" sz="2025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artikel.konsumiere(benoetigte_menge)</a:t>
            </a:r>
            <a:endParaRPr lang="en-US" sz="2025" dirty="0"/>
          </a:p>
        </p:txBody>
      </p:sp>
      <p:sp>
        <p:nvSpPr>
          <p:cNvPr id="88" name="Text 13">
            <a:extLst>
              <a:ext uri="{FF2B5EF4-FFF2-40B4-BE49-F238E27FC236}">
                <a16:creationId xmlns:a16="http://schemas.microsoft.com/office/drawing/2014/main" id="{0E4854B4-859E-D321-ED9C-8F3E51E4F7D3}"/>
              </a:ext>
            </a:extLst>
          </p:cNvPr>
          <p:cNvSpPr/>
          <p:nvPr/>
        </p:nvSpPr>
        <p:spPr>
          <a:xfrm>
            <a:off x="1670952" y="7214168"/>
            <a:ext cx="708728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1800" dirty="0">
                <a:solidFill>
                  <a:srgbClr val="8FA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Verbrauch wird direkt bei der Buchung durchgezogen — nicht erst nachträglich.</a:t>
            </a:r>
            <a:endParaRPr lang="en-US" sz="1800" dirty="0"/>
          </a:p>
        </p:txBody>
      </p:sp>
      <p:sp>
        <p:nvSpPr>
          <p:cNvPr id="94" name="Text 15">
            <a:extLst>
              <a:ext uri="{FF2B5EF4-FFF2-40B4-BE49-F238E27FC236}">
                <a16:creationId xmlns:a16="http://schemas.microsoft.com/office/drawing/2014/main" id="{9188F877-96EC-F490-2F36-878C22A61E1B}"/>
              </a:ext>
            </a:extLst>
          </p:cNvPr>
          <p:cNvSpPr/>
          <p:nvPr/>
        </p:nvSpPr>
        <p:spPr>
          <a:xfrm>
            <a:off x="9558744" y="4692015"/>
            <a:ext cx="814730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6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ressource.py · Einmalartikel.konsumiere()</a:t>
            </a:r>
            <a:endParaRPr lang="en-US" sz="1800" dirty="0"/>
          </a:p>
        </p:txBody>
      </p:sp>
      <p:sp>
        <p:nvSpPr>
          <p:cNvPr id="96" name="Shape 16">
            <a:extLst>
              <a:ext uri="{FF2B5EF4-FFF2-40B4-BE49-F238E27FC236}">
                <a16:creationId xmlns:a16="http://schemas.microsoft.com/office/drawing/2014/main" id="{F9A7A635-B394-380F-AC59-BA2F70511E01}"/>
              </a:ext>
            </a:extLst>
          </p:cNvPr>
          <p:cNvSpPr/>
          <p:nvPr/>
        </p:nvSpPr>
        <p:spPr>
          <a:xfrm>
            <a:off x="9368244" y="5293995"/>
            <a:ext cx="7597140" cy="540068"/>
          </a:xfrm>
          <a:prstGeom prst="rect">
            <a:avLst/>
          </a:prstGeom>
          <a:solidFill>
            <a:srgbClr val="6FE3C2">
              <a:alpha val="1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8" name="Shape 17">
            <a:extLst>
              <a:ext uri="{FF2B5EF4-FFF2-40B4-BE49-F238E27FC236}">
                <a16:creationId xmlns:a16="http://schemas.microsoft.com/office/drawing/2014/main" id="{9FC628D7-8A7E-5383-2303-1B635AC1B632}"/>
              </a:ext>
            </a:extLst>
          </p:cNvPr>
          <p:cNvSpPr/>
          <p:nvPr/>
        </p:nvSpPr>
        <p:spPr>
          <a:xfrm>
            <a:off x="9368244" y="5293995"/>
            <a:ext cx="38100" cy="540068"/>
          </a:xfrm>
          <a:prstGeom prst="rect">
            <a:avLst/>
          </a:prstGeom>
          <a:solidFill>
            <a:srgbClr val="6FE3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26A31FDB-260E-F7A0-BB63-67E468F50ED4}"/>
              </a:ext>
            </a:extLst>
          </p:cNvPr>
          <p:cNvSpPr/>
          <p:nvPr/>
        </p:nvSpPr>
        <p:spPr>
          <a:xfrm>
            <a:off x="9558744" y="5293995"/>
            <a:ext cx="7634555" cy="578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6513"/>
              </a:lnSpc>
              <a:buNone/>
            </a:pPr>
            <a:r>
              <a:rPr lang="en-US" sz="2025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self.bestand -= menge</a:t>
            </a:r>
            <a:endParaRPr lang="en-US" sz="2025" dirty="0"/>
          </a:p>
        </p:txBody>
      </p:sp>
      <p:sp>
        <p:nvSpPr>
          <p:cNvPr id="102" name="Shape 19">
            <a:extLst>
              <a:ext uri="{FF2B5EF4-FFF2-40B4-BE49-F238E27FC236}">
                <a16:creationId xmlns:a16="http://schemas.microsoft.com/office/drawing/2014/main" id="{371FB5F9-0F83-59E0-CD86-7E9CA86AB5C5}"/>
              </a:ext>
            </a:extLst>
          </p:cNvPr>
          <p:cNvSpPr/>
          <p:nvPr/>
        </p:nvSpPr>
        <p:spPr>
          <a:xfrm>
            <a:off x="9368244" y="5834063"/>
            <a:ext cx="7597140" cy="540068"/>
          </a:xfrm>
          <a:prstGeom prst="rect">
            <a:avLst/>
          </a:prstGeom>
          <a:solidFill>
            <a:srgbClr val="6FE3C2">
              <a:alpha val="1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4" name="Shape 20">
            <a:extLst>
              <a:ext uri="{FF2B5EF4-FFF2-40B4-BE49-F238E27FC236}">
                <a16:creationId xmlns:a16="http://schemas.microsoft.com/office/drawing/2014/main" id="{707C1F23-32A8-3A0E-D0AC-A5CFCC9E47BD}"/>
              </a:ext>
            </a:extLst>
          </p:cNvPr>
          <p:cNvSpPr/>
          <p:nvPr/>
        </p:nvSpPr>
        <p:spPr>
          <a:xfrm>
            <a:off x="9368244" y="5834063"/>
            <a:ext cx="38100" cy="540068"/>
          </a:xfrm>
          <a:prstGeom prst="rect">
            <a:avLst/>
          </a:prstGeom>
          <a:solidFill>
            <a:srgbClr val="6FE3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6" name="Text 21">
            <a:extLst>
              <a:ext uri="{FF2B5EF4-FFF2-40B4-BE49-F238E27FC236}">
                <a16:creationId xmlns:a16="http://schemas.microsoft.com/office/drawing/2014/main" id="{237DFB8E-C9BB-116E-C098-34DE976D8DEB}"/>
              </a:ext>
            </a:extLst>
          </p:cNvPr>
          <p:cNvSpPr/>
          <p:nvPr/>
        </p:nvSpPr>
        <p:spPr>
          <a:xfrm>
            <a:off x="9558744" y="5834063"/>
            <a:ext cx="7634555" cy="578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6513"/>
              </a:lnSpc>
              <a:buNone/>
            </a:pPr>
            <a:r>
              <a:rPr lang="en-US" sz="2025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self.bestand &lt;= self.meldebestand:</a:t>
            </a:r>
            <a:endParaRPr lang="en-US" sz="2025" dirty="0"/>
          </a:p>
        </p:txBody>
      </p:sp>
      <p:sp>
        <p:nvSpPr>
          <p:cNvPr id="108" name="Text 22">
            <a:extLst>
              <a:ext uri="{FF2B5EF4-FFF2-40B4-BE49-F238E27FC236}">
                <a16:creationId xmlns:a16="http://schemas.microsoft.com/office/drawing/2014/main" id="{50AE3B23-0BCC-035D-17DD-AA620C19B15A}"/>
              </a:ext>
            </a:extLst>
          </p:cNvPr>
          <p:cNvSpPr/>
          <p:nvPr/>
        </p:nvSpPr>
        <p:spPr>
          <a:xfrm>
            <a:off x="9558744" y="6374130"/>
            <a:ext cx="7628840" cy="578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6513"/>
              </a:lnSpc>
              <a:buNone/>
            </a:pPr>
            <a:r>
              <a:rPr lang="en-US" sz="2025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print(f"Warnung! Bestand von</a:t>
            </a:r>
            <a:endParaRPr lang="en-US" sz="2025" dirty="0"/>
          </a:p>
        </p:txBody>
      </p:sp>
      <p:sp>
        <p:nvSpPr>
          <p:cNvPr id="110" name="Text 23">
            <a:extLst>
              <a:ext uri="{FF2B5EF4-FFF2-40B4-BE49-F238E27FC236}">
                <a16:creationId xmlns:a16="http://schemas.microsoft.com/office/drawing/2014/main" id="{0A99F520-1C3E-A16C-45CB-ACF9443A47DD}"/>
              </a:ext>
            </a:extLst>
          </p:cNvPr>
          <p:cNvSpPr/>
          <p:nvPr/>
        </p:nvSpPr>
        <p:spPr>
          <a:xfrm>
            <a:off x="9558744" y="6914198"/>
            <a:ext cx="7628840" cy="5781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6513"/>
              </a:lnSpc>
              <a:buNone/>
            </a:pPr>
            <a:r>
              <a:rPr lang="en-US" sz="2025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'{self.name}' fast leer!")</a:t>
            </a:r>
            <a:endParaRPr lang="en-US" sz="2025" dirty="0"/>
          </a:p>
        </p:txBody>
      </p:sp>
      <p:sp>
        <p:nvSpPr>
          <p:cNvPr id="112" name="Text 24">
            <a:extLst>
              <a:ext uri="{FF2B5EF4-FFF2-40B4-BE49-F238E27FC236}">
                <a16:creationId xmlns:a16="http://schemas.microsoft.com/office/drawing/2014/main" id="{36293E44-CB3A-FC17-7349-B0EE4D9F38F1}"/>
              </a:ext>
            </a:extLst>
          </p:cNvPr>
          <p:cNvSpPr/>
          <p:nvPr/>
        </p:nvSpPr>
        <p:spPr>
          <a:xfrm>
            <a:off x="9558744" y="7720965"/>
            <a:ext cx="81473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1800" dirty="0">
                <a:solidFill>
                  <a:srgbClr val="8FA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 Methode reduziert den Bestand UND warnt automatisch bei Unterschreitung.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45460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CODE-BLICK 2 / 2 · manager.py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05890"/>
            <a:ext cx="13622846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plane_operation() — Prüfen vor dem Zusagen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4105096" y="857250"/>
            <a:ext cx="3230404" cy="472440"/>
          </a:xfrm>
          <a:prstGeom prst="roundRect">
            <a:avLst>
              <a:gd name="adj" fmla="val 8065"/>
            </a:avLst>
          </a:prstGeom>
          <a:solidFill>
            <a:srgbClr val="EAF4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4295596" y="952500"/>
            <a:ext cx="2946316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950" dirty="0" err="1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löst</a:t>
            </a:r>
            <a:r>
              <a:rPr lang="en-US" sz="19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Punkt 02</a:t>
            </a:r>
            <a:endParaRPr lang="en-US" sz="195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529AD8A1-C39A-E52D-B028-F518C81F6833}"/>
              </a:ext>
            </a:extLst>
          </p:cNvPr>
          <p:cNvSpPr/>
          <p:nvPr/>
        </p:nvSpPr>
        <p:spPr>
          <a:xfrm>
            <a:off x="1238250" y="2865109"/>
            <a:ext cx="15811500" cy="6408420"/>
          </a:xfrm>
          <a:prstGeom prst="roundRect">
            <a:avLst>
              <a:gd name="adj" fmla="val 2973"/>
            </a:avLst>
          </a:prstGeom>
          <a:solidFill>
            <a:srgbClr val="1024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22259F50-34FB-E4BD-328D-A98A9A8EF87D}"/>
              </a:ext>
            </a:extLst>
          </p:cNvPr>
          <p:cNvSpPr/>
          <p:nvPr/>
        </p:nvSpPr>
        <p:spPr>
          <a:xfrm>
            <a:off x="1524000" y="3707130"/>
            <a:ext cx="15697200" cy="6238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3036"/>
              </a:lnSpc>
              <a:buNone/>
            </a:pPr>
            <a:r>
              <a:rPr lang="en-US" sz="2250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ressource.ist_verfuegbar(start_minute, start_minute + dauer, benoetigte_menge):</a:t>
            </a:r>
            <a:endParaRPr lang="en-US" sz="2250" dirty="0"/>
          </a:p>
        </p:txBody>
      </p:sp>
      <p:sp>
        <p:nvSpPr>
          <p:cNvPr id="62" name="Shape 6">
            <a:extLst>
              <a:ext uri="{FF2B5EF4-FFF2-40B4-BE49-F238E27FC236}">
                <a16:creationId xmlns:a16="http://schemas.microsoft.com/office/drawing/2014/main" id="{BC631B46-5199-48BC-906A-7830224C1D34}"/>
              </a:ext>
            </a:extLst>
          </p:cNvPr>
          <p:cNvSpPr/>
          <p:nvPr/>
        </p:nvSpPr>
        <p:spPr>
          <a:xfrm>
            <a:off x="1333500" y="4292918"/>
            <a:ext cx="15430500" cy="585788"/>
          </a:xfrm>
          <a:prstGeom prst="rect">
            <a:avLst/>
          </a:prstGeom>
          <a:solidFill>
            <a:srgbClr val="6FE3C2">
              <a:alpha val="1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4" name="Shape 7">
            <a:extLst>
              <a:ext uri="{FF2B5EF4-FFF2-40B4-BE49-F238E27FC236}">
                <a16:creationId xmlns:a16="http://schemas.microsoft.com/office/drawing/2014/main" id="{D0CC2299-4F15-C2E3-77B8-9399CF87FD72}"/>
              </a:ext>
            </a:extLst>
          </p:cNvPr>
          <p:cNvSpPr/>
          <p:nvPr/>
        </p:nvSpPr>
        <p:spPr>
          <a:xfrm>
            <a:off x="1333500" y="4292918"/>
            <a:ext cx="38100" cy="585788"/>
          </a:xfrm>
          <a:prstGeom prst="rect">
            <a:avLst/>
          </a:prstGeom>
          <a:solidFill>
            <a:srgbClr val="6FE3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97C913E7-3A41-7F93-A705-31709D5001A1}"/>
              </a:ext>
            </a:extLst>
          </p:cNvPr>
          <p:cNvSpPr/>
          <p:nvPr/>
        </p:nvSpPr>
        <p:spPr>
          <a:xfrm>
            <a:off x="1524000" y="4292918"/>
            <a:ext cx="15702915" cy="6238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3036"/>
              </a:lnSpc>
              <a:buNone/>
            </a:pPr>
            <a:r>
              <a:rPr lang="en-US" sz="2250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ValueError(f"Die Ressource '{ressourcen_name}' ist aktuell belegt!")</a:t>
            </a:r>
            <a:endParaRPr lang="en-US" sz="2250" dirty="0"/>
          </a:p>
        </p:txBody>
      </p:sp>
      <p:sp>
        <p:nvSpPr>
          <p:cNvPr id="68" name="Shape 9">
            <a:extLst>
              <a:ext uri="{FF2B5EF4-FFF2-40B4-BE49-F238E27FC236}">
                <a16:creationId xmlns:a16="http://schemas.microsoft.com/office/drawing/2014/main" id="{1180E080-8F07-F720-0B9E-DA43F1750151}"/>
              </a:ext>
            </a:extLst>
          </p:cNvPr>
          <p:cNvSpPr/>
          <p:nvPr/>
        </p:nvSpPr>
        <p:spPr>
          <a:xfrm>
            <a:off x="1333500" y="4878705"/>
            <a:ext cx="15430500" cy="585788"/>
          </a:xfrm>
          <a:prstGeom prst="rect">
            <a:avLst/>
          </a:prstGeom>
          <a:solidFill>
            <a:srgbClr val="6FE3C2">
              <a:alpha val="1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0" name="Shape 10">
            <a:extLst>
              <a:ext uri="{FF2B5EF4-FFF2-40B4-BE49-F238E27FC236}">
                <a16:creationId xmlns:a16="http://schemas.microsoft.com/office/drawing/2014/main" id="{0E2087AD-03A2-F222-5850-1B750747E1E0}"/>
              </a:ext>
            </a:extLst>
          </p:cNvPr>
          <p:cNvSpPr/>
          <p:nvPr/>
        </p:nvSpPr>
        <p:spPr>
          <a:xfrm>
            <a:off x="1333500" y="4878705"/>
            <a:ext cx="38100" cy="585788"/>
          </a:xfrm>
          <a:prstGeom prst="rect">
            <a:avLst/>
          </a:prstGeom>
          <a:solidFill>
            <a:srgbClr val="6FE3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D974E03C-F46F-FE3C-86E7-2A5CF316068A}"/>
              </a:ext>
            </a:extLst>
          </p:cNvPr>
          <p:cNvSpPr/>
          <p:nvPr/>
        </p:nvSpPr>
        <p:spPr>
          <a:xfrm>
            <a:off x="1524000" y="4878705"/>
            <a:ext cx="15702915" cy="6238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3036"/>
              </a:lnSpc>
              <a:buNone/>
            </a:pPr>
            <a:r>
              <a:rPr lang="en-US" sz="2250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Alle Ressourcen frei? Erst DANN wirklich buchen:</a:t>
            </a:r>
            <a:endParaRPr lang="en-US" sz="2250" dirty="0"/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31BF3B24-B01A-B1A6-F386-777C19B2F819}"/>
              </a:ext>
            </a:extLst>
          </p:cNvPr>
          <p:cNvSpPr/>
          <p:nvPr/>
        </p:nvSpPr>
        <p:spPr>
          <a:xfrm>
            <a:off x="1333500" y="5464493"/>
            <a:ext cx="15430500" cy="585788"/>
          </a:xfrm>
          <a:prstGeom prst="rect">
            <a:avLst/>
          </a:prstGeom>
          <a:solidFill>
            <a:srgbClr val="6FE3C2">
              <a:alpha val="1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6" name="Shape 13">
            <a:extLst>
              <a:ext uri="{FF2B5EF4-FFF2-40B4-BE49-F238E27FC236}">
                <a16:creationId xmlns:a16="http://schemas.microsoft.com/office/drawing/2014/main" id="{759AB24F-4A78-E419-868A-35BCE95708E2}"/>
              </a:ext>
            </a:extLst>
          </p:cNvPr>
          <p:cNvSpPr/>
          <p:nvPr/>
        </p:nvSpPr>
        <p:spPr>
          <a:xfrm>
            <a:off x="1333500" y="5464493"/>
            <a:ext cx="38100" cy="585788"/>
          </a:xfrm>
          <a:prstGeom prst="rect">
            <a:avLst/>
          </a:prstGeom>
          <a:solidFill>
            <a:srgbClr val="6FE3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0" name="Shape 15">
            <a:extLst>
              <a:ext uri="{FF2B5EF4-FFF2-40B4-BE49-F238E27FC236}">
                <a16:creationId xmlns:a16="http://schemas.microsoft.com/office/drawing/2014/main" id="{7819332C-2F80-07E8-6B4F-44C3A5F871FB}"/>
              </a:ext>
            </a:extLst>
          </p:cNvPr>
          <p:cNvSpPr/>
          <p:nvPr/>
        </p:nvSpPr>
        <p:spPr>
          <a:xfrm>
            <a:off x="1333500" y="6050280"/>
            <a:ext cx="15430500" cy="585788"/>
          </a:xfrm>
          <a:prstGeom prst="rect">
            <a:avLst/>
          </a:prstGeom>
          <a:solidFill>
            <a:srgbClr val="6FE3C2">
              <a:alpha val="1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2" name="Shape 16">
            <a:extLst>
              <a:ext uri="{FF2B5EF4-FFF2-40B4-BE49-F238E27FC236}">
                <a16:creationId xmlns:a16="http://schemas.microsoft.com/office/drawing/2014/main" id="{A5346553-B2F8-49C3-0EA6-18573D86EE15}"/>
              </a:ext>
            </a:extLst>
          </p:cNvPr>
          <p:cNvSpPr/>
          <p:nvPr/>
        </p:nvSpPr>
        <p:spPr>
          <a:xfrm>
            <a:off x="1333500" y="6050280"/>
            <a:ext cx="38100" cy="585788"/>
          </a:xfrm>
          <a:prstGeom prst="rect">
            <a:avLst/>
          </a:prstGeom>
          <a:solidFill>
            <a:srgbClr val="6FE3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4" name="Text 17">
            <a:extLst>
              <a:ext uri="{FF2B5EF4-FFF2-40B4-BE49-F238E27FC236}">
                <a16:creationId xmlns:a16="http://schemas.microsoft.com/office/drawing/2014/main" id="{D282A084-BCEA-C36E-1AB4-B07B28CB0F7B}"/>
              </a:ext>
            </a:extLst>
          </p:cNvPr>
          <p:cNvSpPr/>
          <p:nvPr/>
        </p:nvSpPr>
        <p:spPr>
          <a:xfrm>
            <a:off x="1524000" y="5484234"/>
            <a:ext cx="15702915" cy="6238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3036"/>
              </a:lnSpc>
              <a:buNone/>
            </a:pPr>
            <a:r>
              <a:rPr lang="en-US" sz="2250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2250" dirty="0"/>
          </a:p>
        </p:txBody>
      </p:sp>
      <p:sp>
        <p:nvSpPr>
          <p:cNvPr id="86" name="Text 18">
            <a:extLst>
              <a:ext uri="{FF2B5EF4-FFF2-40B4-BE49-F238E27FC236}">
                <a16:creationId xmlns:a16="http://schemas.microsoft.com/office/drawing/2014/main" id="{570E22B9-A6C3-586B-C41A-7F3E766EEB00}"/>
              </a:ext>
            </a:extLst>
          </p:cNvPr>
          <p:cNvSpPr/>
          <p:nvPr/>
        </p:nvSpPr>
        <p:spPr>
          <a:xfrm>
            <a:off x="1524000" y="6636068"/>
            <a:ext cx="15697200" cy="6238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3036"/>
              </a:lnSpc>
              <a:buNone/>
            </a:pPr>
            <a:r>
              <a:rPr lang="en-US" sz="2250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ressource.blockieren(op_name, start_minute, start_minute + dauer, benoetigte_menge)</a:t>
            </a:r>
            <a:endParaRPr lang="en-US" sz="2250" dirty="0"/>
          </a:p>
        </p:txBody>
      </p:sp>
      <p:sp>
        <p:nvSpPr>
          <p:cNvPr id="88" name="Text 19">
            <a:extLst>
              <a:ext uri="{FF2B5EF4-FFF2-40B4-BE49-F238E27FC236}">
                <a16:creationId xmlns:a16="http://schemas.microsoft.com/office/drawing/2014/main" id="{2EDC5637-5167-22E8-02ED-35FAA7EEAE58}"/>
              </a:ext>
            </a:extLst>
          </p:cNvPr>
          <p:cNvSpPr/>
          <p:nvPr/>
        </p:nvSpPr>
        <p:spPr>
          <a:xfrm>
            <a:off x="1524000" y="7221855"/>
            <a:ext cx="15697200" cy="6238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3036"/>
              </a:lnSpc>
              <a:buNone/>
            </a:pPr>
            <a:r>
              <a:rPr lang="en-US" sz="2250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Exception: ressource.freigeben(op_name)  # Rollback</a:t>
            </a:r>
            <a:endParaRPr lang="en-US" sz="2250" dirty="0"/>
          </a:p>
        </p:txBody>
      </p:sp>
      <p:sp>
        <p:nvSpPr>
          <p:cNvPr id="90" name="Text 20">
            <a:extLst>
              <a:ext uri="{FF2B5EF4-FFF2-40B4-BE49-F238E27FC236}">
                <a16:creationId xmlns:a16="http://schemas.microsoft.com/office/drawing/2014/main" id="{A5898EF0-F5D2-50E7-AC8A-7B15756720EB}"/>
              </a:ext>
            </a:extLst>
          </p:cNvPr>
          <p:cNvSpPr/>
          <p:nvPr/>
        </p:nvSpPr>
        <p:spPr>
          <a:xfrm>
            <a:off x="1524000" y="7807643"/>
            <a:ext cx="15697200" cy="6238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3036"/>
              </a:lnSpc>
              <a:buNone/>
            </a:pPr>
            <a:r>
              <a:rPr lang="en-US" sz="2250" dirty="0">
                <a:solidFill>
                  <a:srgbClr val="E7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neue_op.geblockte_ressourcen.append((ressource, benoetigte_menge))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019300"/>
            <a:ext cx="18021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6FE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LIVE-DEMO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2472690"/>
            <a:ext cx="1802130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OP-Kompass in der Streamlit-Oberfläche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3813810"/>
            <a:ext cx="64770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FE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828800" y="3821430"/>
            <a:ext cx="108330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Saalübersicht &amp; Lager — der aktuelle Stand aller drei Säle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4678680"/>
            <a:ext cx="64770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FE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828800" y="4686300"/>
            <a:ext cx="1250240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OP buchen — bewusst einen Ressourcenkonflikt provozieren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52500" y="5543550"/>
            <a:ext cx="64770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FE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828800" y="5551170"/>
            <a:ext cx="1110431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verschieben — die Kettenreaktion im Saal live verfolgen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52500" y="6408420"/>
            <a:ext cx="64770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FE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28800" y="6416040"/>
            <a:ext cx="1195181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Meldebestand unterschreiten — die Lagerwarnung live auslösen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2500" y="765429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F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3–4 Minuten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10640"/>
            <a:ext cx="1802130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es weitergeht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85060"/>
            <a:ext cx="8058150" cy="3484245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762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379220" y="2811780"/>
            <a:ext cx="792518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Kliniken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9220" y="3406140"/>
            <a:ext cx="742085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Standort ist der Start — mehrere Häuser mit eigenen Sälen und Lagern unter einem Dach verwalten.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9220" y="5160645"/>
            <a:ext cx="792518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Erweiterung von OPSaal &amp; OPManager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77350" y="2385060"/>
            <a:ext cx="8058150" cy="3484245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762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704070" y="2811780"/>
            <a:ext cx="792518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Personal-Schichtpläne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704070" y="3406140"/>
            <a:ext cx="742085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Urlaub, Dienstpläne und Verfügbarkeit des OP-Personals direkt in die Ressourcenprüfung einbeziehen.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04070" y="5160645"/>
            <a:ext cx="792518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Feinere Fehlerklassen im ganzen System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6136005"/>
            <a:ext cx="8058150" cy="3484245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762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379220" y="6562725"/>
            <a:ext cx="792518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Datenbank statt In-Memory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9220" y="7157085"/>
            <a:ext cx="742085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Persistente Speicherung der Pläne, damit nichts beim Neustart des Systems verloren geht.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79220" y="8911590"/>
            <a:ext cx="792518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Attribut auf der Klasse Instrument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77350" y="6136005"/>
            <a:ext cx="8058150" cy="3484245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7620">
            <a:solidFill>
              <a:srgbClr val="D7E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704070" y="6562725"/>
            <a:ext cx="792518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Anbindung ans Klinik-KIS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704070" y="7157085"/>
            <a:ext cx="742085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47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Patientendaten und OP-Freigaben direkt aus dem Krankenhausinformationssystem übernehmen.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04070" y="8911590"/>
            <a:ext cx="792518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Schnittstellen-Schicht vor OPManager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391853"/>
            <a:ext cx="18021300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2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Dank.</a:t>
            </a:r>
            <a:endParaRPr lang="en-US" sz="8100" dirty="0"/>
          </a:p>
        </p:txBody>
      </p:sp>
      <p:sp>
        <p:nvSpPr>
          <p:cNvPr id="3" name="Text 1"/>
          <p:cNvSpPr/>
          <p:nvPr/>
        </p:nvSpPr>
        <p:spPr>
          <a:xfrm>
            <a:off x="952500" y="4776788"/>
            <a:ext cx="1177290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F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OP-Kompass — </a:t>
            </a:r>
            <a:r>
              <a:rPr lang="en-US" sz="3000" dirty="0" err="1">
                <a:solidFill>
                  <a:srgbClr val="9F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</a:t>
            </a:r>
            <a:r>
              <a:rPr lang="en-US" sz="3000" dirty="0">
                <a:solidFill>
                  <a:srgbClr val="9F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Sicherheit </a:t>
            </a:r>
            <a:r>
              <a:rPr lang="en-US" sz="3000" dirty="0" err="1">
                <a:solidFill>
                  <a:srgbClr val="9F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r>
              <a:rPr lang="en-US" sz="3000" dirty="0">
                <a:solidFill>
                  <a:srgbClr val="9F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OP-</a:t>
            </a:r>
            <a:r>
              <a:rPr lang="en-US" sz="3000" dirty="0" err="1">
                <a:solidFill>
                  <a:srgbClr val="9F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2500" y="6739890"/>
            <a:ext cx="533400" cy="28575"/>
          </a:xfrm>
          <a:prstGeom prst="rect">
            <a:avLst/>
          </a:prstGeom>
          <a:solidFill>
            <a:srgbClr val="6FE3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676400" y="6613207"/>
            <a:ext cx="251342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F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&amp; Diskussion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1130</Words>
  <Application>Microsoft Office PowerPoint</Application>
  <PresentationFormat>Benutzerdefiniert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Katja Fichtner-Pflaum</cp:lastModifiedBy>
  <cp:revision>5</cp:revision>
  <dcterms:created xsi:type="dcterms:W3CDTF">2026-07-11T12:18:05Z</dcterms:created>
  <dcterms:modified xsi:type="dcterms:W3CDTF">2026-07-13T15:31:01Z</dcterms:modified>
</cp:coreProperties>
</file>